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0"/>
  </p:notesMasterIdLst>
  <p:sldIdLst>
    <p:sldId id="256" r:id="rId3"/>
    <p:sldId id="258" r:id="rId4"/>
    <p:sldId id="259" r:id="rId5"/>
    <p:sldId id="264" r:id="rId6"/>
    <p:sldId id="265" r:id="rId7"/>
    <p:sldId id="266" r:id="rId8"/>
    <p:sldId id="261" r:id="rId9"/>
    <p:sldId id="267" r:id="rId10"/>
    <p:sldId id="268" r:id="rId11"/>
    <p:sldId id="269" r:id="rId12"/>
    <p:sldId id="262" r:id="rId13"/>
    <p:sldId id="270" r:id="rId14"/>
    <p:sldId id="271" r:id="rId15"/>
    <p:sldId id="272" r:id="rId16"/>
    <p:sldId id="263" r:id="rId17"/>
    <p:sldId id="273" r:id="rId18"/>
    <p:sldId id="274" r:id="rId19"/>
    <p:sldId id="275" r:id="rId21"/>
    <p:sldId id="257" r:id="rId22"/>
  </p:sldIdLst>
  <p:sldSz cx="12192000" cy="6858000"/>
  <p:notesSz cx="6858000" cy="9144000"/>
  <p:embeddedFontLst>
    <p:embeddedFont>
      <p:font typeface="MiSans Normal" panose="00000500000000000000" charset="-122"/>
      <p:regular r:id="rId27"/>
    </p:embeddedFont>
    <p:embeddedFont>
      <p:font typeface="微软雅黑" panose="020B0503020204020204" charset="-122"/>
      <p:regular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</p:embeddedFontLst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5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彭玉凤" initials="彭玉凤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245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gs" Target="tags/tag82.xml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" Target="slides/slide1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0">
        <p159:morph option="byObject"/>
      </p:transition>
    </mc:Choice>
    <mc:Fallback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66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7.xml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svg"/><Relationship Id="rId7" Type="http://schemas.openxmlformats.org/officeDocument/2006/relationships/image" Target="../media/image17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68.xml"/><Relationship Id="rId12" Type="http://schemas.openxmlformats.org/officeDocument/2006/relationships/image" Target="../media/image22.svg"/><Relationship Id="rId11" Type="http://schemas.openxmlformats.org/officeDocument/2006/relationships/image" Target="../media/image21.png"/><Relationship Id="rId10" Type="http://schemas.openxmlformats.org/officeDocument/2006/relationships/image" Target="../media/image20.sv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svg"/><Relationship Id="rId8" Type="http://schemas.openxmlformats.org/officeDocument/2006/relationships/image" Target="../media/image30.png"/><Relationship Id="rId7" Type="http://schemas.openxmlformats.org/officeDocument/2006/relationships/image" Target="../media/image29.svg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70.xml"/><Relationship Id="rId1" Type="http://schemas.openxmlformats.org/officeDocument/2006/relationships/image" Target="../media/image23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71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image" Target="../media/image45.svg"/><Relationship Id="rId7" Type="http://schemas.openxmlformats.org/officeDocument/2006/relationships/image" Target="../media/image44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74.xml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Relationship Id="rId3" Type="http://schemas.openxmlformats.org/officeDocument/2006/relationships/image" Target="../media/image48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5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6.xml"/><Relationship Id="rId1" Type="http://schemas.openxmlformats.org/officeDocument/2006/relationships/image" Target="../media/image5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8.xml"/><Relationship Id="rId1" Type="http://schemas.openxmlformats.org/officeDocument/2006/relationships/image" Target="../media/image53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9.xml"/><Relationship Id="rId1" Type="http://schemas.openxmlformats.org/officeDocument/2006/relationships/image" Target="../media/image54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image" Target="../media/image62.svg"/><Relationship Id="rId7" Type="http://schemas.openxmlformats.org/officeDocument/2006/relationships/image" Target="../media/image61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8.svg"/><Relationship Id="rId3" Type="http://schemas.openxmlformats.org/officeDocument/2006/relationships/image" Target="../media/image57.png"/><Relationship Id="rId2" Type="http://schemas.openxmlformats.org/officeDocument/2006/relationships/image" Target="../media/image56.sv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5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直角三角形 12"/>
          <p:cNvSpPr/>
          <p:nvPr/>
        </p:nvSpPr>
        <p:spPr>
          <a:xfrm rot="5400000">
            <a:off x="635" y="-63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/>
        </p:nvSpPr>
        <p:spPr>
          <a:xfrm>
            <a:off x="1270" y="427291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直角三角形 14"/>
          <p:cNvSpPr/>
          <p:nvPr/>
        </p:nvSpPr>
        <p:spPr>
          <a:xfrm rot="10800000">
            <a:off x="9608185" y="-127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/>
        </p:nvSpPr>
        <p:spPr>
          <a:xfrm rot="16200000">
            <a:off x="9607550" y="427355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45745" y="222885"/>
            <a:ext cx="11700510" cy="64122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737995" y="2402205"/>
            <a:ext cx="8716645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4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蓝色简约</a:t>
            </a:r>
            <a:endParaRPr lang="zh-CN" altLang="en-US" sz="4400" b="1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  <a:p>
            <a:pPr algn="ctr"/>
            <a:r>
              <a:rPr lang="zh-CN" altLang="en-US" sz="60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开题</a:t>
            </a:r>
            <a:r>
              <a:rPr lang="zh-CN" sz="60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报告</a:t>
            </a:r>
            <a:r>
              <a:rPr lang="en-US" altLang="zh-CN" sz="60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/</a:t>
            </a:r>
            <a:r>
              <a:rPr lang="zh-CN" altLang="en-US" sz="60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毕业答辩</a:t>
            </a:r>
            <a:r>
              <a:rPr lang="en-US" altLang="zh-CN" sz="60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PPT</a:t>
            </a:r>
            <a:endParaRPr lang="en-US" altLang="zh-CN" sz="6000" b="1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pic>
        <p:nvPicPr>
          <p:cNvPr id="19" name="图片 18" descr="343435333238383b333637393534383bb2a9cabfc3b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67020" y="857885"/>
            <a:ext cx="1458595" cy="1458595"/>
          </a:xfrm>
          <a:prstGeom prst="rect">
            <a:avLst/>
          </a:prstGeom>
        </p:spPr>
      </p:pic>
      <p:sp>
        <p:nvSpPr>
          <p:cNvPr id="23" name="流程图: 终止 22"/>
          <p:cNvSpPr/>
          <p:nvPr/>
        </p:nvSpPr>
        <p:spPr>
          <a:xfrm>
            <a:off x="3307080" y="5064125"/>
            <a:ext cx="2059940" cy="501015"/>
          </a:xfrm>
          <a:prstGeom prst="flowChartTerminator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答辩人：稻小壳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5" name="流程图: 终止 24"/>
          <p:cNvSpPr/>
          <p:nvPr/>
        </p:nvSpPr>
        <p:spPr>
          <a:xfrm>
            <a:off x="6825615" y="5064125"/>
            <a:ext cx="1938020" cy="501015"/>
          </a:xfrm>
          <a:prstGeom prst="flowChartTerminator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导师：</a:t>
            </a:r>
            <a:r>
              <a:rPr lang="en-US" altLang="zh-CN">
                <a:latin typeface="MiSans Normal" panose="00000500000000000000" charset="-122"/>
                <a:ea typeface="MiSans Normal" panose="00000500000000000000" charset="-122"/>
              </a:rPr>
              <a:t>Docer</a:t>
            </a:r>
            <a:endParaRPr lang="en-US" altLang="zh-CN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720850" y="4178935"/>
            <a:ext cx="8750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i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Blue brief opening report/graduation defense PPT</a:t>
            </a:r>
            <a:endParaRPr lang="zh-CN" altLang="en-US" i="1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直角三角形 13"/>
          <p:cNvSpPr/>
          <p:nvPr/>
        </p:nvSpPr>
        <p:spPr>
          <a:xfrm>
            <a:off x="1270" y="427291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直角三角形 12"/>
          <p:cNvSpPr/>
          <p:nvPr/>
        </p:nvSpPr>
        <p:spPr>
          <a:xfrm rot="5400000">
            <a:off x="635" y="-63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直角三角形 14"/>
          <p:cNvSpPr/>
          <p:nvPr/>
        </p:nvSpPr>
        <p:spPr>
          <a:xfrm rot="10800000">
            <a:off x="9608185" y="-127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/>
        </p:nvSpPr>
        <p:spPr>
          <a:xfrm rot="16200000">
            <a:off x="9607550" y="427355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245745" y="222885"/>
            <a:ext cx="11700510" cy="64122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718185" y="656590"/>
            <a:ext cx="10754995" cy="554482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892300" y="2681605"/>
            <a:ext cx="21482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5400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目</a:t>
            </a:r>
            <a:r>
              <a:rPr lang="en-US" altLang="zh-CN" sz="5400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 </a:t>
            </a:r>
            <a:r>
              <a:rPr lang="zh-CN" altLang="en-US" sz="5400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录</a:t>
            </a:r>
            <a:endParaRPr lang="zh-CN" altLang="en-US" sz="5400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24330" y="3603625"/>
            <a:ext cx="2683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i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C  O  N  T  E  N  T  S</a:t>
            </a:r>
            <a:endParaRPr lang="en-US" altLang="zh-CN" i="1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5543550" y="2453005"/>
            <a:ext cx="790575" cy="78994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MiSans Normal" panose="00000500000000000000" charset="-122"/>
                <a:ea typeface="MiSans Normal" panose="00000500000000000000" charset="-122"/>
              </a:rPr>
              <a:t>02</a:t>
            </a:r>
            <a:endParaRPr lang="en-US" altLang="zh-CN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5543550" y="3592195"/>
            <a:ext cx="790575" cy="78994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MiSans Normal" panose="00000500000000000000" charset="-122"/>
                <a:ea typeface="MiSans Normal" panose="00000500000000000000" charset="-122"/>
              </a:rPr>
              <a:t>03</a:t>
            </a:r>
            <a:endParaRPr lang="en-US" altLang="zh-CN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5543550" y="1313815"/>
            <a:ext cx="790575" cy="78994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MiSans Normal" panose="00000500000000000000" charset="-122"/>
                <a:ea typeface="MiSans Normal" panose="00000500000000000000" charset="-122"/>
              </a:rPr>
              <a:t>01</a:t>
            </a:r>
            <a:endParaRPr lang="en-US" altLang="zh-CN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5543550" y="4731385"/>
            <a:ext cx="790575" cy="78994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MiSans Normal" panose="00000500000000000000" charset="-122"/>
                <a:ea typeface="MiSans Normal" panose="00000500000000000000" charset="-122"/>
              </a:rPr>
              <a:t>04</a:t>
            </a:r>
            <a:endParaRPr lang="en-US" altLang="zh-CN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34125" y="1447800"/>
            <a:ext cx="29171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研究背景与意义</a:t>
            </a:r>
            <a:endParaRPr lang="zh-CN" altLang="en-US" sz="28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334125" y="2586990"/>
            <a:ext cx="29171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研究内容与目标</a:t>
            </a:r>
            <a:endParaRPr lang="zh-CN" altLang="en-US" sz="28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334125" y="3726180"/>
            <a:ext cx="29171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技术路线与方法</a:t>
            </a:r>
            <a:endParaRPr lang="zh-CN" altLang="en-US" sz="28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334125" y="4865370"/>
            <a:ext cx="29171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时间进度安排</a:t>
            </a:r>
            <a:endParaRPr lang="zh-CN" altLang="en-US" sz="28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直角三角形 12"/>
          <p:cNvSpPr/>
          <p:nvPr/>
        </p:nvSpPr>
        <p:spPr>
          <a:xfrm rot="5400000">
            <a:off x="635" y="-63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/>
        </p:nvSpPr>
        <p:spPr>
          <a:xfrm>
            <a:off x="1270" y="427291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直角三角形 14"/>
          <p:cNvSpPr/>
          <p:nvPr/>
        </p:nvSpPr>
        <p:spPr>
          <a:xfrm rot="10800000">
            <a:off x="9608185" y="-127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/>
        </p:nvSpPr>
        <p:spPr>
          <a:xfrm rot="16200000">
            <a:off x="9607550" y="427355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45745" y="222885"/>
            <a:ext cx="11700510" cy="64122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737995" y="2728595"/>
            <a:ext cx="87166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54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研究背景与意义</a:t>
            </a:r>
            <a:endParaRPr lang="zh-CN" sz="5400" b="1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23" name="流程图: 终止 22"/>
          <p:cNvSpPr/>
          <p:nvPr/>
        </p:nvSpPr>
        <p:spPr>
          <a:xfrm>
            <a:off x="5116830" y="5075555"/>
            <a:ext cx="1959610" cy="501015"/>
          </a:xfrm>
          <a:prstGeom prst="flowChartTerminator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MiSans Normal" panose="00000500000000000000" charset="-122"/>
                <a:ea typeface="MiSans Normal" panose="00000500000000000000" charset="-122"/>
              </a:rPr>
              <a:t>P A R T . 0 1</a:t>
            </a:r>
            <a:endParaRPr lang="en-US" altLang="zh-CN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720850" y="3915410"/>
            <a:ext cx="8750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i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Research background and significance</a:t>
            </a:r>
            <a:endParaRPr lang="zh-CN" altLang="en-US" i="1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99660" y="1356995"/>
            <a:ext cx="239395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600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01</a:t>
            </a:r>
            <a:endParaRPr lang="en-US" altLang="zh-CN" sz="6600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直角三角形 12"/>
          <p:cNvSpPr/>
          <p:nvPr/>
        </p:nvSpPr>
        <p:spPr>
          <a:xfrm rot="5400000">
            <a:off x="635" y="-63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/>
        </p:nvSpPr>
        <p:spPr>
          <a:xfrm>
            <a:off x="1270" y="427291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直角三角形 14"/>
          <p:cNvSpPr/>
          <p:nvPr/>
        </p:nvSpPr>
        <p:spPr>
          <a:xfrm rot="10800000">
            <a:off x="9608185" y="-127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/>
        </p:nvSpPr>
        <p:spPr>
          <a:xfrm rot="16200000">
            <a:off x="9607550" y="427355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45745" y="222885"/>
            <a:ext cx="11700510" cy="64122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327910" y="588645"/>
            <a:ext cx="75355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01.</a:t>
            </a:r>
            <a:r>
              <a:rPr lang="zh-CN" sz="28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  <a:sym typeface="+mn-ea"/>
              </a:rPr>
              <a:t>研究背景与意义</a:t>
            </a:r>
            <a:endParaRPr lang="en-US" altLang="zh-CN" sz="2800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366520" y="5171440"/>
            <a:ext cx="945769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400" b="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4598670" y="1775460"/>
            <a:ext cx="2994660" cy="295021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32313534373730393b32313534373639323bd0c5d3c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3115" y="2136775"/>
            <a:ext cx="447040" cy="4470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389880" y="2728595"/>
            <a:ext cx="14141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40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45050" y="3297555"/>
            <a:ext cx="2504440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zh-CN" altLang="en-US" sz="1400" b="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</a:t>
            </a:r>
            <a:endParaRPr lang="zh-CN" altLang="en-US" sz="1400" b="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  <a:p>
            <a:pPr indent="0" algn="ctr"/>
            <a:r>
              <a:rPr lang="zh-CN" altLang="en-US" sz="1400" b="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文字是您思想的提炼，为了最终演示发布的良好效果，请尽量言简意赅的阐述观点</a:t>
            </a:r>
            <a:endParaRPr lang="zh-CN" altLang="en-US" sz="1400" b="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3833495" y="3297555"/>
            <a:ext cx="478790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7879715" y="3297555"/>
            <a:ext cx="478790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8644255" y="1822450"/>
            <a:ext cx="2994660" cy="2950210"/>
          </a:xfrm>
          <a:prstGeom prst="ellipse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 descr="32313534373730393b32313534373730313bd5b9cab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18065" y="2136775"/>
            <a:ext cx="447040" cy="44704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434195" y="2728595"/>
            <a:ext cx="14141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88730" y="3291205"/>
            <a:ext cx="2504440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</a:t>
            </a:r>
            <a:endParaRPr lang="zh-CN" altLang="en-US" sz="1400" b="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  <a:p>
            <a:pPr indent="0" algn="ctr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文字是您思想的提炼，为了最终演示发布的良好效果，请尽量言简意赅的阐述观点</a:t>
            </a:r>
            <a:endParaRPr lang="zh-CN" altLang="en-US" sz="1400" b="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52450" y="1775460"/>
            <a:ext cx="2994660" cy="2950210"/>
          </a:xfrm>
          <a:prstGeom prst="ellipse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 descr="32313534373730393b32313534373732363bb7e7bfd8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28165" y="2136775"/>
            <a:ext cx="447040" cy="44704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1343660" y="2728595"/>
            <a:ext cx="14141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96290" y="3284855"/>
            <a:ext cx="2504440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</a:t>
            </a:r>
            <a:endParaRPr lang="zh-CN" altLang="en-US" sz="1400" b="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  <a:p>
            <a:pPr indent="0" algn="ctr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文字是您思想的提炼，为了最终演示发布的良好效果，请尽量言简意赅的阐述观点</a:t>
            </a:r>
            <a:endParaRPr lang="zh-CN" altLang="en-US" sz="1400" b="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直角三角形 12"/>
          <p:cNvSpPr/>
          <p:nvPr/>
        </p:nvSpPr>
        <p:spPr>
          <a:xfrm rot="5400000">
            <a:off x="635" y="-63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/>
        </p:nvSpPr>
        <p:spPr>
          <a:xfrm>
            <a:off x="1270" y="427291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/>
        </p:nvSpPr>
        <p:spPr>
          <a:xfrm rot="16200000">
            <a:off x="9607550" y="427355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直角三角形 14"/>
          <p:cNvSpPr/>
          <p:nvPr/>
        </p:nvSpPr>
        <p:spPr>
          <a:xfrm rot="10800000">
            <a:off x="9608185" y="-127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245745" y="222885"/>
            <a:ext cx="11700510" cy="64122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327910" y="588645"/>
            <a:ext cx="75355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01.</a:t>
            </a:r>
            <a:r>
              <a:rPr lang="zh-CN" sz="28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  <a:sym typeface="+mn-ea"/>
              </a:rPr>
              <a:t>研究背景与意义</a:t>
            </a:r>
            <a:endParaRPr lang="en-US" altLang="zh-CN" sz="2800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1503045" y="3449955"/>
            <a:ext cx="835025" cy="84582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 descr="32313538383939353b32313538373938363bbfceb3cccfc2d4d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31645" y="3684270"/>
            <a:ext cx="377190" cy="377190"/>
          </a:xfrm>
          <a:prstGeom prst="rect">
            <a:avLst/>
          </a:prstGeom>
        </p:spPr>
      </p:pic>
      <p:sp>
        <p:nvSpPr>
          <p:cNvPr id="6" name="流程图: 离页连接符 5"/>
          <p:cNvSpPr/>
          <p:nvPr/>
        </p:nvSpPr>
        <p:spPr>
          <a:xfrm rot="16200000">
            <a:off x="4085590" y="2942590"/>
            <a:ext cx="523875" cy="1859280"/>
          </a:xfrm>
          <a:prstGeom prst="flowChartOffpageConnector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583940" y="3672840"/>
            <a:ext cx="12801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00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8" name="流程图: 离页连接符 7"/>
          <p:cNvSpPr/>
          <p:nvPr/>
        </p:nvSpPr>
        <p:spPr>
          <a:xfrm rot="16200000">
            <a:off x="4085590" y="4195445"/>
            <a:ext cx="523875" cy="1859280"/>
          </a:xfrm>
          <a:prstGeom prst="flowChartOffpageConnector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流程图: 离页连接符 8"/>
          <p:cNvSpPr/>
          <p:nvPr/>
        </p:nvSpPr>
        <p:spPr>
          <a:xfrm rot="16200000">
            <a:off x="4085590" y="1689100"/>
            <a:ext cx="523875" cy="1859280"/>
          </a:xfrm>
          <a:prstGeom prst="flowChartOffpageConnector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583940" y="2419350"/>
            <a:ext cx="12801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00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583940" y="4926330"/>
            <a:ext cx="12801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00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cxnSp>
        <p:nvCxnSpPr>
          <p:cNvPr id="12" name="直接连接符 11"/>
          <p:cNvCxnSpPr>
            <a:stCxn id="9" idx="0"/>
            <a:endCxn id="3" idx="7"/>
          </p:cNvCxnSpPr>
          <p:nvPr/>
        </p:nvCxnSpPr>
        <p:spPr>
          <a:xfrm flipH="1">
            <a:off x="2215515" y="2618740"/>
            <a:ext cx="1202690" cy="95504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stCxn id="3" idx="6"/>
            <a:endCxn id="6" idx="0"/>
          </p:cNvCxnSpPr>
          <p:nvPr/>
        </p:nvCxnSpPr>
        <p:spPr>
          <a:xfrm flipV="1">
            <a:off x="2338070" y="3872230"/>
            <a:ext cx="1080135" cy="635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3" idx="5"/>
            <a:endCxn id="8" idx="0"/>
          </p:cNvCxnSpPr>
          <p:nvPr/>
        </p:nvCxnSpPr>
        <p:spPr>
          <a:xfrm>
            <a:off x="2215515" y="4171950"/>
            <a:ext cx="1202690" cy="953135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圆角矩形 19"/>
          <p:cNvSpPr/>
          <p:nvPr/>
        </p:nvSpPr>
        <p:spPr>
          <a:xfrm>
            <a:off x="5420995" y="2235835"/>
            <a:ext cx="5177155" cy="768985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5571490" y="2359025"/>
            <a:ext cx="487616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l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单击此处输入你的正文，文字是您思想的提炼，为了最终演示发布的良好效果，请尽量言简意赅的阐述观；</a:t>
            </a:r>
            <a:r>
              <a:rPr lang="zh-CN" altLang="en-US" sz="1400" b="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点</a:t>
            </a:r>
            <a:endParaRPr lang="zh-CN" altLang="en-US" sz="1400" b="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5420995" y="3487420"/>
            <a:ext cx="5177155" cy="768985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>
            <a:off x="5420995" y="4739005"/>
            <a:ext cx="5177155" cy="768985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5571490" y="3610610"/>
            <a:ext cx="487616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l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单击此处输入你的正文，文字是您思想的提炼，为了最终演示发布的良好效果，请尽量言简意赅的阐述观；</a:t>
            </a:r>
            <a:r>
              <a:rPr lang="zh-CN" altLang="en-US" sz="1400" b="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点</a:t>
            </a:r>
            <a:endParaRPr lang="zh-CN" altLang="en-US" sz="1400" b="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571490" y="4862830"/>
            <a:ext cx="487616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l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单击此处输入你的正文，文字是您思想的提炼，为了最终演示发布的良好效果，请尽量言简意赅的阐述观；</a:t>
            </a:r>
            <a:r>
              <a:rPr lang="zh-CN" altLang="en-US" sz="1400" b="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点</a:t>
            </a:r>
            <a:endParaRPr lang="zh-CN" altLang="en-US" sz="1400" b="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直角三角形 12"/>
          <p:cNvSpPr/>
          <p:nvPr/>
        </p:nvSpPr>
        <p:spPr>
          <a:xfrm rot="5400000">
            <a:off x="635" y="-63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/>
        </p:nvSpPr>
        <p:spPr>
          <a:xfrm>
            <a:off x="1270" y="427291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/>
        </p:nvSpPr>
        <p:spPr>
          <a:xfrm rot="16200000">
            <a:off x="9607550" y="427355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直角三角形 14"/>
          <p:cNvSpPr/>
          <p:nvPr/>
        </p:nvSpPr>
        <p:spPr>
          <a:xfrm rot="10800000">
            <a:off x="9608185" y="-127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245745" y="222885"/>
            <a:ext cx="11700510" cy="64122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327910" y="588645"/>
            <a:ext cx="75355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01.</a:t>
            </a:r>
            <a:r>
              <a:rPr lang="zh-CN" sz="28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  <a:sym typeface="+mn-ea"/>
              </a:rPr>
              <a:t>研究背景与意义</a:t>
            </a:r>
            <a:endParaRPr lang="en-US" altLang="zh-CN" sz="2800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>
            <a:off x="6096000" y="1879600"/>
            <a:ext cx="0" cy="3985895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6379210" y="3460750"/>
            <a:ext cx="657225" cy="667385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6379210" y="2307590"/>
            <a:ext cx="657225" cy="667385"/>
          </a:xfrm>
          <a:prstGeom prst="ellipse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6379210" y="4613910"/>
            <a:ext cx="657225" cy="667385"/>
          </a:xfrm>
          <a:prstGeom prst="ellipse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5155565" y="2307590"/>
            <a:ext cx="657225" cy="667385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5155565" y="4613910"/>
            <a:ext cx="657225" cy="667385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5155565" y="3460750"/>
            <a:ext cx="657225" cy="667385"/>
          </a:xfrm>
          <a:prstGeom prst="ellipse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32313538383939353b32313538373937383bcbbcceaccdd8d5b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39865" y="3626485"/>
            <a:ext cx="335915" cy="335915"/>
          </a:xfrm>
          <a:prstGeom prst="rect">
            <a:avLst/>
          </a:prstGeom>
        </p:spPr>
      </p:pic>
      <p:pic>
        <p:nvPicPr>
          <p:cNvPr id="12" name="图片 11" descr="32313538383939353b32313538373938313bcad5bcafd7f7d2b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9865" y="2473325"/>
            <a:ext cx="335915" cy="335915"/>
          </a:xfrm>
          <a:prstGeom prst="rect">
            <a:avLst/>
          </a:prstGeom>
        </p:spPr>
      </p:pic>
      <p:pic>
        <p:nvPicPr>
          <p:cNvPr id="18" name="图片 17" descr="32313538383939353b32313538373938343bcdf8c9cfbfceb1ed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39865" y="4779645"/>
            <a:ext cx="341630" cy="341630"/>
          </a:xfrm>
          <a:prstGeom prst="rect">
            <a:avLst/>
          </a:prstGeom>
        </p:spPr>
      </p:pic>
      <p:pic>
        <p:nvPicPr>
          <p:cNvPr id="20" name="图片 19" descr="32313538363435363b32313538363434363bb4f0b1e7b5d8b5e3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24475" y="2473325"/>
            <a:ext cx="327660" cy="327660"/>
          </a:xfrm>
          <a:prstGeom prst="rect">
            <a:avLst/>
          </a:prstGeom>
        </p:spPr>
      </p:pic>
      <p:pic>
        <p:nvPicPr>
          <p:cNvPr id="21" name="图片 20" descr="32313538363435363b32313538363435323bc2dbcec4b7e2d7b0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15585" y="3625850"/>
            <a:ext cx="336550" cy="336550"/>
          </a:xfrm>
          <a:prstGeom prst="rect">
            <a:avLst/>
          </a:prstGeom>
        </p:spPr>
      </p:pic>
      <p:pic>
        <p:nvPicPr>
          <p:cNvPr id="22" name="图片 21" descr="32313538333630393b32313538333731393bcbd1cbf7bfceb3cc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16220" y="4787265"/>
            <a:ext cx="335915" cy="335915"/>
          </a:xfrm>
          <a:prstGeom prst="rect">
            <a:avLst/>
          </a:prstGeom>
        </p:spPr>
      </p:pic>
      <p:sp>
        <p:nvSpPr>
          <p:cNvPr id="89" name="文本框 88"/>
          <p:cNvSpPr txBox="1"/>
          <p:nvPr/>
        </p:nvSpPr>
        <p:spPr>
          <a:xfrm>
            <a:off x="7036435" y="2307590"/>
            <a:ext cx="18141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0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7036435" y="2706370"/>
            <a:ext cx="46399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036435" y="3469640"/>
            <a:ext cx="18141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0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036435" y="4605655"/>
            <a:ext cx="18141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0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341370" y="2307590"/>
            <a:ext cx="18141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0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341370" y="3460750"/>
            <a:ext cx="18141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0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341370" y="4613910"/>
            <a:ext cx="18141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0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036435" y="3859530"/>
            <a:ext cx="46399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036435" y="5012690"/>
            <a:ext cx="46399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15620" y="2706370"/>
            <a:ext cx="46399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15620" y="3865880"/>
            <a:ext cx="46399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15620" y="5003800"/>
            <a:ext cx="46399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直角三角形 12"/>
          <p:cNvSpPr/>
          <p:nvPr/>
        </p:nvSpPr>
        <p:spPr>
          <a:xfrm rot="5400000">
            <a:off x="635" y="-63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/>
        </p:nvSpPr>
        <p:spPr>
          <a:xfrm>
            <a:off x="1270" y="427291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直角三角形 14"/>
          <p:cNvSpPr/>
          <p:nvPr/>
        </p:nvSpPr>
        <p:spPr>
          <a:xfrm rot="10800000">
            <a:off x="9608185" y="-127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/>
        </p:nvSpPr>
        <p:spPr>
          <a:xfrm rot="16200000">
            <a:off x="9607550" y="427355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45745" y="222885"/>
            <a:ext cx="11700510" cy="64122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737995" y="2728595"/>
            <a:ext cx="87166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54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研究内容与目标</a:t>
            </a:r>
            <a:endParaRPr lang="zh-CN" sz="5400" b="1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23" name="流程图: 终止 22"/>
          <p:cNvSpPr/>
          <p:nvPr/>
        </p:nvSpPr>
        <p:spPr>
          <a:xfrm>
            <a:off x="5116830" y="5075555"/>
            <a:ext cx="1959610" cy="501015"/>
          </a:xfrm>
          <a:prstGeom prst="flowChartTerminator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MiSans Normal" panose="00000500000000000000" charset="-122"/>
                <a:ea typeface="MiSans Normal" panose="00000500000000000000" charset="-122"/>
              </a:rPr>
              <a:t>P A R T . 0 2</a:t>
            </a:r>
            <a:endParaRPr lang="en-US" altLang="zh-CN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720850" y="3915410"/>
            <a:ext cx="8750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i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Research contents and objectives</a:t>
            </a:r>
            <a:endParaRPr lang="zh-CN" altLang="en-US" i="1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99660" y="1356995"/>
            <a:ext cx="239395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600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02</a:t>
            </a:r>
            <a:endParaRPr lang="en-US" altLang="zh-CN" sz="6600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直角三角形 12"/>
          <p:cNvSpPr/>
          <p:nvPr/>
        </p:nvSpPr>
        <p:spPr>
          <a:xfrm rot="5400000">
            <a:off x="635" y="-63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/>
        </p:nvSpPr>
        <p:spPr>
          <a:xfrm>
            <a:off x="1270" y="427291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直角三角形 14"/>
          <p:cNvSpPr/>
          <p:nvPr/>
        </p:nvSpPr>
        <p:spPr>
          <a:xfrm rot="10800000">
            <a:off x="9608185" y="-127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/>
        </p:nvSpPr>
        <p:spPr>
          <a:xfrm rot="16200000">
            <a:off x="9607550" y="427355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45745" y="222885"/>
            <a:ext cx="11700510" cy="64122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327910" y="588645"/>
            <a:ext cx="75355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02.</a:t>
            </a:r>
            <a:r>
              <a:rPr lang="zh-CN" sz="28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  <a:sym typeface="+mn-ea"/>
              </a:rPr>
              <a:t>研究内容与目标</a:t>
            </a:r>
            <a:endParaRPr lang="en-US" altLang="zh-CN" sz="2800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65675" y="3022600"/>
            <a:ext cx="2656205" cy="1722755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4771390" y="3021965"/>
            <a:ext cx="2647950" cy="17024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椭圆 6"/>
          <p:cNvSpPr/>
          <p:nvPr/>
        </p:nvSpPr>
        <p:spPr>
          <a:xfrm>
            <a:off x="4333875" y="2650490"/>
            <a:ext cx="801370" cy="81280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7056755" y="2650490"/>
            <a:ext cx="801370" cy="81280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7056755" y="4342765"/>
            <a:ext cx="801370" cy="81280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4333875" y="4342765"/>
            <a:ext cx="801370" cy="81280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 descr="32313538333630393b32313538333731343bbdb1d7b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56145" y="2855595"/>
            <a:ext cx="402590" cy="402590"/>
          </a:xfrm>
          <a:prstGeom prst="rect">
            <a:avLst/>
          </a:prstGeom>
        </p:spPr>
      </p:pic>
      <p:pic>
        <p:nvPicPr>
          <p:cNvPr id="19" name="图片 18" descr="32313538333630393b32313538333731383bd1a7c9fac7a9b5bd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33265" y="4547870"/>
            <a:ext cx="402590" cy="402590"/>
          </a:xfrm>
          <a:prstGeom prst="rect">
            <a:avLst/>
          </a:prstGeom>
        </p:spPr>
      </p:pic>
      <p:pic>
        <p:nvPicPr>
          <p:cNvPr id="20" name="图片 19" descr="32313534373730393b32313534373731373bc9edb7ddcab6b1f0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33265" y="2855595"/>
            <a:ext cx="402590" cy="402590"/>
          </a:xfrm>
          <a:prstGeom prst="rect">
            <a:avLst/>
          </a:prstGeom>
        </p:spPr>
      </p:pic>
      <p:pic>
        <p:nvPicPr>
          <p:cNvPr id="21" name="图片 20" descr="32313534373730393b32313534373731333bcfb5cdb3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56145" y="4547870"/>
            <a:ext cx="402590" cy="40259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7858125" y="2190115"/>
            <a:ext cx="1814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7858125" y="2688590"/>
            <a:ext cx="34156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858125" y="4380230"/>
            <a:ext cx="34156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858125" y="3882390"/>
            <a:ext cx="1814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519680" y="2190115"/>
            <a:ext cx="1814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519680" y="3882390"/>
            <a:ext cx="1814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18210" y="2687955"/>
            <a:ext cx="34156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18210" y="4380865"/>
            <a:ext cx="34156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直角三角形 13"/>
          <p:cNvSpPr/>
          <p:nvPr/>
        </p:nvSpPr>
        <p:spPr>
          <a:xfrm>
            <a:off x="1270" y="427291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直角三角形 12"/>
          <p:cNvSpPr/>
          <p:nvPr/>
        </p:nvSpPr>
        <p:spPr>
          <a:xfrm rot="5400000">
            <a:off x="635" y="-63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直角三角形 14"/>
          <p:cNvSpPr/>
          <p:nvPr/>
        </p:nvSpPr>
        <p:spPr>
          <a:xfrm rot="10800000">
            <a:off x="9608185" y="-127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/>
        </p:nvSpPr>
        <p:spPr>
          <a:xfrm rot="16200000">
            <a:off x="9607550" y="427355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245745" y="222885"/>
            <a:ext cx="11700510" cy="64122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327910" y="588645"/>
            <a:ext cx="75355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02.</a:t>
            </a:r>
            <a:r>
              <a:rPr lang="zh-CN" sz="28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  <a:sym typeface="+mn-ea"/>
              </a:rPr>
              <a:t>研究内容与目标</a:t>
            </a:r>
            <a:endParaRPr lang="en-US" altLang="zh-CN" sz="2800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4826635" y="2461260"/>
            <a:ext cx="2537460" cy="323977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5568315" y="1934845"/>
            <a:ext cx="1054100" cy="105791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5672455" y="2029460"/>
            <a:ext cx="845185" cy="86868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8282305" y="2461260"/>
            <a:ext cx="2537460" cy="323977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9023985" y="1934845"/>
            <a:ext cx="1054100" cy="105791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9128125" y="2029460"/>
            <a:ext cx="845185" cy="86868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1370965" y="2461260"/>
            <a:ext cx="2537460" cy="323977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2112645" y="1934845"/>
            <a:ext cx="1054100" cy="105791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2216785" y="2029460"/>
            <a:ext cx="845185" cy="86868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 descr="32313534373730393b32313534373639333bd0c5d3c3bfa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8830" y="2245995"/>
            <a:ext cx="435610" cy="435610"/>
          </a:xfrm>
          <a:prstGeom prst="rect">
            <a:avLst/>
          </a:prstGeom>
        </p:spPr>
      </p:pic>
      <p:pic>
        <p:nvPicPr>
          <p:cNvPr id="23" name="图片 22" descr="32313534373730393b32313534373731363bb9c9c6b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0055" y="2245995"/>
            <a:ext cx="442595" cy="442595"/>
          </a:xfrm>
          <a:prstGeom prst="rect">
            <a:avLst/>
          </a:prstGeom>
        </p:spPr>
      </p:pic>
      <p:pic>
        <p:nvPicPr>
          <p:cNvPr id="24" name="图片 23" descr="32313534373730393b32313534373731303bbbeec6da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19985" y="2238375"/>
            <a:ext cx="443230" cy="44323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5188585" y="3287395"/>
            <a:ext cx="1814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40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965065" y="3959225"/>
            <a:ext cx="225996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</a:t>
            </a:r>
            <a:endParaRPr lang="zh-CN" altLang="en-US" sz="140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  <a:p>
            <a:pPr algn="ctr"/>
            <a:r>
              <a:rPr lang="zh-CN" altLang="en-US" sz="140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文字是您思想的提炼，为了最终演示发布的良好效果，请尽量言简意赅的阐述观点；</a:t>
            </a:r>
            <a:endParaRPr lang="zh-CN" altLang="en-US" sz="140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643620" y="3287395"/>
            <a:ext cx="1814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40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732915" y="3287395"/>
            <a:ext cx="1814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40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420735" y="3959225"/>
            <a:ext cx="225996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</a:t>
            </a:r>
            <a:endParaRPr lang="zh-CN" altLang="en-US" sz="140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  <a:p>
            <a:pPr algn="ctr"/>
            <a:r>
              <a:rPr lang="zh-CN" altLang="en-US" sz="140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文字是您思想的提炼，为了最终演示发布的良好效果，请尽量言简意赅的阐述观点；</a:t>
            </a:r>
            <a:endParaRPr lang="zh-CN" altLang="en-US" sz="140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510030" y="3959225"/>
            <a:ext cx="225996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</a:t>
            </a:r>
            <a:endParaRPr lang="zh-CN" altLang="en-US" sz="140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  <a:p>
            <a:pPr algn="ctr"/>
            <a:r>
              <a:rPr lang="zh-CN" altLang="en-US" sz="140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文字是您思想的提炼，为了最终演示发布的良好效果，请尽量言简意赅的阐述观点；</a:t>
            </a:r>
            <a:endParaRPr lang="zh-CN" altLang="en-US" sz="140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直角三角形 12"/>
          <p:cNvSpPr/>
          <p:nvPr/>
        </p:nvSpPr>
        <p:spPr>
          <a:xfrm rot="5400000">
            <a:off x="635" y="-63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/>
        </p:nvSpPr>
        <p:spPr>
          <a:xfrm>
            <a:off x="1270" y="427291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直角三角形 14"/>
          <p:cNvSpPr/>
          <p:nvPr/>
        </p:nvSpPr>
        <p:spPr>
          <a:xfrm rot="10800000">
            <a:off x="9608185" y="-127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/>
        </p:nvSpPr>
        <p:spPr>
          <a:xfrm rot="16200000">
            <a:off x="9607550" y="427355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45745" y="222885"/>
            <a:ext cx="11700510" cy="64122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327910" y="588645"/>
            <a:ext cx="75355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02.</a:t>
            </a:r>
            <a:r>
              <a:rPr lang="zh-CN" sz="28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  <a:sym typeface="+mn-ea"/>
              </a:rPr>
              <a:t>研究内容与目标</a:t>
            </a:r>
            <a:endParaRPr lang="en-US" altLang="zh-CN" sz="2800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cxnSp>
        <p:nvCxnSpPr>
          <p:cNvPr id="3" name="直接连接符 2"/>
          <p:cNvCxnSpPr>
            <a:endCxn id="17" idx="2"/>
          </p:cNvCxnSpPr>
          <p:nvPr/>
        </p:nvCxnSpPr>
        <p:spPr>
          <a:xfrm flipH="1">
            <a:off x="6096000" y="1645920"/>
            <a:ext cx="4445" cy="4989195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5935345" y="1556385"/>
            <a:ext cx="323215" cy="33401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6017895" y="3469640"/>
            <a:ext cx="155575" cy="167005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6017895" y="4342765"/>
            <a:ext cx="155575" cy="167005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6020435" y="2643505"/>
            <a:ext cx="155575" cy="167005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6017895" y="5215890"/>
            <a:ext cx="155575" cy="167005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6173470" y="2721610"/>
            <a:ext cx="481330" cy="9525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176010" y="4421505"/>
            <a:ext cx="481330" cy="9525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539105" y="3548380"/>
            <a:ext cx="481330" cy="9525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539105" y="5294630"/>
            <a:ext cx="481330" cy="9525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圆角矩形 18"/>
          <p:cNvSpPr/>
          <p:nvPr/>
        </p:nvSpPr>
        <p:spPr>
          <a:xfrm>
            <a:off x="6654800" y="2447925"/>
            <a:ext cx="589915" cy="556895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6659880" y="4147820"/>
            <a:ext cx="589915" cy="556895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4946650" y="3274695"/>
            <a:ext cx="589915" cy="556895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>
            <a:off x="4946650" y="5020945"/>
            <a:ext cx="589915" cy="556895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 descr="32313534323136383b32313534323232343bcec4bcfeb7d6cfed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12280" y="2583180"/>
            <a:ext cx="285750" cy="285750"/>
          </a:xfrm>
          <a:prstGeom prst="rect">
            <a:avLst/>
          </a:prstGeom>
        </p:spPr>
      </p:pic>
      <p:pic>
        <p:nvPicPr>
          <p:cNvPr id="27" name="图片 26" descr="32313534323136383b32313534323231363bb4f2d3a1bbfa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13550" y="4287520"/>
            <a:ext cx="284480" cy="284480"/>
          </a:xfrm>
          <a:prstGeom prst="rect">
            <a:avLst/>
          </a:prstGeom>
        </p:spPr>
      </p:pic>
      <p:pic>
        <p:nvPicPr>
          <p:cNvPr id="28" name="图片 27" descr="32313534323136383b32313534323231383bcdb6d3b0c6c1c4bb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98415" y="3410585"/>
            <a:ext cx="284480" cy="284480"/>
          </a:xfrm>
          <a:prstGeom prst="rect">
            <a:avLst/>
          </a:prstGeom>
        </p:spPr>
      </p:pic>
      <p:pic>
        <p:nvPicPr>
          <p:cNvPr id="30" name="图片 29" descr="32313538333630393b32313538333732343bbfceb3ccb2a5b7c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97780" y="5156835"/>
            <a:ext cx="285115" cy="285115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7255510" y="2496820"/>
            <a:ext cx="1814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254240" y="4196080"/>
            <a:ext cx="1814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128010" y="3322320"/>
            <a:ext cx="1814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127375" y="5069205"/>
            <a:ext cx="1814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7254875" y="2957195"/>
            <a:ext cx="374967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7254875" y="4645660"/>
            <a:ext cx="374967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191895" y="3782695"/>
            <a:ext cx="374967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194435" y="5529580"/>
            <a:ext cx="374967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直角三角形 12"/>
          <p:cNvSpPr/>
          <p:nvPr/>
        </p:nvSpPr>
        <p:spPr>
          <a:xfrm rot="5400000">
            <a:off x="635" y="-63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/>
        </p:nvSpPr>
        <p:spPr>
          <a:xfrm>
            <a:off x="1270" y="427291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直角三角形 14"/>
          <p:cNvSpPr/>
          <p:nvPr/>
        </p:nvSpPr>
        <p:spPr>
          <a:xfrm rot="10800000">
            <a:off x="9608185" y="-127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/>
        </p:nvSpPr>
        <p:spPr>
          <a:xfrm rot="16200000">
            <a:off x="9607550" y="427355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45745" y="222885"/>
            <a:ext cx="11700510" cy="64122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737995" y="2728595"/>
            <a:ext cx="87166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54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技术路线与方法</a:t>
            </a:r>
            <a:endParaRPr lang="zh-CN" sz="5400" b="1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23" name="流程图: 终止 22"/>
          <p:cNvSpPr/>
          <p:nvPr/>
        </p:nvSpPr>
        <p:spPr>
          <a:xfrm>
            <a:off x="5116830" y="5075555"/>
            <a:ext cx="1959610" cy="501015"/>
          </a:xfrm>
          <a:prstGeom prst="flowChartTerminator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MiSans Normal" panose="00000500000000000000" charset="-122"/>
                <a:ea typeface="MiSans Normal" panose="00000500000000000000" charset="-122"/>
              </a:rPr>
              <a:t>P A R T . 0 3</a:t>
            </a:r>
            <a:endParaRPr lang="en-US" altLang="zh-CN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720850" y="3915410"/>
            <a:ext cx="8750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i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Technical route and method</a:t>
            </a:r>
            <a:endParaRPr lang="zh-CN" altLang="en-US" i="1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99660" y="1356995"/>
            <a:ext cx="239395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600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03</a:t>
            </a:r>
            <a:endParaRPr lang="en-US" altLang="zh-CN" sz="6600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直角三角形 12"/>
          <p:cNvSpPr/>
          <p:nvPr/>
        </p:nvSpPr>
        <p:spPr>
          <a:xfrm rot="5400000">
            <a:off x="635" y="-63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/>
        </p:nvSpPr>
        <p:spPr>
          <a:xfrm>
            <a:off x="1270" y="427291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直角三角形 14"/>
          <p:cNvSpPr/>
          <p:nvPr/>
        </p:nvSpPr>
        <p:spPr>
          <a:xfrm rot="10800000">
            <a:off x="9608185" y="-127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/>
        </p:nvSpPr>
        <p:spPr>
          <a:xfrm rot="16200000">
            <a:off x="9607550" y="427355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45745" y="222885"/>
            <a:ext cx="11700510" cy="64122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327910" y="588645"/>
            <a:ext cx="75355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03.</a:t>
            </a:r>
            <a:r>
              <a:rPr lang="zh-CN" sz="28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  <a:sym typeface="+mn-ea"/>
              </a:rPr>
              <a:t>技术路线与方法</a:t>
            </a:r>
            <a:endParaRPr lang="en-US" altLang="zh-CN" sz="2800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" name="右箭头 2"/>
          <p:cNvSpPr/>
          <p:nvPr/>
        </p:nvSpPr>
        <p:spPr>
          <a:xfrm>
            <a:off x="953135" y="3482340"/>
            <a:ext cx="10286365" cy="779145"/>
          </a:xfrm>
          <a:prstGeom prst="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843780" y="2191385"/>
            <a:ext cx="2503805" cy="336296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5703570" y="2516505"/>
            <a:ext cx="784225" cy="779145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9" name="文本框 88"/>
          <p:cNvSpPr txBox="1"/>
          <p:nvPr/>
        </p:nvSpPr>
        <p:spPr>
          <a:xfrm>
            <a:off x="5188585" y="3482340"/>
            <a:ext cx="1814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988560" y="4056380"/>
            <a:ext cx="2215515" cy="11684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</a:t>
            </a:r>
            <a:endParaRPr lang="zh-CN" altLang="en-US" sz="1400" b="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  <a:p>
            <a:pPr indent="0" algn="ctr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文字是您思想的提炼，为了最终演示发布的良好效果，请尽量言简意赅的阐述观</a:t>
            </a:r>
            <a:endParaRPr lang="zh-CN" altLang="en-US" sz="1400" b="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976235" y="2191385"/>
            <a:ext cx="2503805" cy="336296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711325" y="2191385"/>
            <a:ext cx="2503805" cy="336296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8836025" y="2516505"/>
            <a:ext cx="784225" cy="779145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2571115" y="2516505"/>
            <a:ext cx="784225" cy="779145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321040" y="3482340"/>
            <a:ext cx="1814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056130" y="3482340"/>
            <a:ext cx="1814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120380" y="4056380"/>
            <a:ext cx="2215515" cy="11684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</a:t>
            </a:r>
            <a:endParaRPr lang="zh-CN" altLang="en-US" sz="1400" b="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  <a:p>
            <a:pPr indent="0" algn="ctr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文字是您思想的提炼，为了最终演示发布的良好效果，请尽量言简意赅的阐述观</a:t>
            </a:r>
            <a:endParaRPr lang="zh-CN" altLang="en-US" sz="1400" b="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856740" y="4056380"/>
            <a:ext cx="2215515" cy="11684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</a:t>
            </a:r>
            <a:endParaRPr lang="zh-CN" altLang="en-US" sz="1400" b="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  <a:p>
            <a:pPr indent="0" algn="ctr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文字是您思想的提炼，为了最终演示发布的良好效果，请尽量言简意赅的阐述观</a:t>
            </a:r>
            <a:endParaRPr lang="zh-CN" altLang="en-US" sz="1400" b="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pic>
        <p:nvPicPr>
          <p:cNvPr id="22" name="图片 21" descr="32313538383939353b32313538373938303bb5e7c4d4c1aabbfa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28360" y="2738120"/>
            <a:ext cx="336550" cy="336550"/>
          </a:xfrm>
          <a:prstGeom prst="rect">
            <a:avLst/>
          </a:prstGeom>
        </p:spPr>
      </p:pic>
      <p:pic>
        <p:nvPicPr>
          <p:cNvPr id="23" name="图片 22" descr="32313538383939353b32313538373937353bb6e0b5d8bdbbc1f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59545" y="2737485"/>
            <a:ext cx="337185" cy="337185"/>
          </a:xfrm>
          <a:prstGeom prst="rect">
            <a:avLst/>
          </a:prstGeom>
        </p:spPr>
      </p:pic>
      <p:pic>
        <p:nvPicPr>
          <p:cNvPr id="24" name="图片 23" descr="32313538333630393b32313538333732303bcad5b2d8bfceb3cc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94635" y="2737485"/>
            <a:ext cx="337185" cy="33718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直角三角形 12"/>
          <p:cNvSpPr/>
          <p:nvPr/>
        </p:nvSpPr>
        <p:spPr>
          <a:xfrm rot="5400000">
            <a:off x="635" y="-63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/>
        </p:nvSpPr>
        <p:spPr>
          <a:xfrm>
            <a:off x="1270" y="427291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直角三角形 14"/>
          <p:cNvSpPr/>
          <p:nvPr/>
        </p:nvSpPr>
        <p:spPr>
          <a:xfrm rot="10800000">
            <a:off x="9608185" y="-127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/>
        </p:nvSpPr>
        <p:spPr>
          <a:xfrm rot="16200000">
            <a:off x="9607550" y="427355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45745" y="222885"/>
            <a:ext cx="11700510" cy="64122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327910" y="588645"/>
            <a:ext cx="75355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03.</a:t>
            </a:r>
            <a:r>
              <a:rPr lang="zh-CN" sz="28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  <a:sym typeface="+mn-ea"/>
              </a:rPr>
              <a:t>技术路线与方法</a:t>
            </a:r>
            <a:endParaRPr lang="en-US" altLang="zh-CN" sz="2800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836420" y="5305425"/>
            <a:ext cx="851916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400" b="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256655" y="2082165"/>
            <a:ext cx="1658620" cy="2693035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276725" y="2082165"/>
            <a:ext cx="1658620" cy="2693035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582535" y="2665730"/>
            <a:ext cx="746125" cy="152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048500" y="2803525"/>
            <a:ext cx="1814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7245350" y="3263900"/>
            <a:ext cx="396049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85565" y="2666365"/>
            <a:ext cx="746125" cy="152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351530" y="2803525"/>
            <a:ext cx="1814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37590" y="3263900"/>
            <a:ext cx="396049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5730240" y="3067685"/>
            <a:ext cx="711835" cy="72263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 descr="32313538383939353b32313538373937383bcbbcceaccdd8d5b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3755" y="3246755"/>
            <a:ext cx="363220" cy="3632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直角三角形 14"/>
          <p:cNvSpPr/>
          <p:nvPr/>
        </p:nvSpPr>
        <p:spPr>
          <a:xfrm rot="10800000">
            <a:off x="9608185" y="-127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/>
        </p:nvSpPr>
        <p:spPr>
          <a:xfrm rot="16200000">
            <a:off x="9607550" y="427355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/>
        </p:nvSpPr>
        <p:spPr>
          <a:xfrm>
            <a:off x="1270" y="427291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直角三角形 12"/>
          <p:cNvSpPr/>
          <p:nvPr/>
        </p:nvSpPr>
        <p:spPr>
          <a:xfrm rot="5400000">
            <a:off x="635" y="-63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245745" y="222885"/>
            <a:ext cx="11700510" cy="64122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327910" y="588645"/>
            <a:ext cx="75355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03.</a:t>
            </a:r>
            <a:r>
              <a:rPr lang="zh-CN" sz="28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  <a:sym typeface="+mn-ea"/>
              </a:rPr>
              <a:t>技术路线与方法</a:t>
            </a:r>
            <a:endParaRPr lang="en-US" altLang="zh-CN" sz="2800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pic>
        <p:nvPicPr>
          <p:cNvPr id="103" name="图片 102"/>
          <p:cNvPicPr>
            <a:picLocks noChangeAspect="1"/>
          </p:cNvPicPr>
          <p:nvPr/>
        </p:nvPicPr>
        <p:blipFill>
          <a:blip r:embed="rId1"/>
          <a:srcRect l="22944" t="3405" r="12379"/>
          <a:stretch>
            <a:fillRect/>
          </a:stretch>
        </p:blipFill>
        <p:spPr>
          <a:xfrm>
            <a:off x="1290320" y="2152650"/>
            <a:ext cx="3440430" cy="344043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418" h="5418">
                <a:moveTo>
                  <a:pt x="2709" y="0"/>
                </a:moveTo>
                <a:cubicBezTo>
                  <a:pt x="4205" y="0"/>
                  <a:pt x="5418" y="1213"/>
                  <a:pt x="5418" y="2709"/>
                </a:cubicBezTo>
                <a:cubicBezTo>
                  <a:pt x="5418" y="4205"/>
                  <a:pt x="4205" y="5418"/>
                  <a:pt x="2709" y="5418"/>
                </a:cubicBezTo>
                <a:cubicBezTo>
                  <a:pt x="1213" y="5418"/>
                  <a:pt x="0" y="4205"/>
                  <a:pt x="0" y="2709"/>
                </a:cubicBezTo>
                <a:cubicBezTo>
                  <a:pt x="0" y="1213"/>
                  <a:pt x="1213" y="0"/>
                  <a:pt x="2709" y="0"/>
                </a:cubicBezTo>
                <a:close/>
              </a:path>
            </a:pathLst>
          </a:custGeom>
          <a:noFill/>
          <a:ln w="9525">
            <a:noFill/>
          </a:ln>
        </p:spPr>
      </p:pic>
      <p:sp>
        <p:nvSpPr>
          <p:cNvPr id="28" name="椭圆 27"/>
          <p:cNvSpPr/>
          <p:nvPr/>
        </p:nvSpPr>
        <p:spPr>
          <a:xfrm>
            <a:off x="2270125" y="3121660"/>
            <a:ext cx="1480820" cy="1503045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40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5332095" y="2072640"/>
            <a:ext cx="5309870" cy="768985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6028055" y="3571875"/>
            <a:ext cx="487616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l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单击此处输入你的正文，文字是您思想的提炼，为了最终演示发布的良好效果，请尽量言简意赅的阐述观；</a:t>
            </a:r>
            <a:r>
              <a:rPr lang="zh-CN" altLang="en-US" sz="1400" b="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点</a:t>
            </a:r>
            <a:endParaRPr lang="zh-CN" altLang="en-US" sz="1400" b="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688330" y="2196465"/>
            <a:ext cx="487616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l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单击此处输入你的正文，文字是您思想的提炼，为了最终演示发布的良好效果，请尽量言简意赅的阐述观；</a:t>
            </a:r>
            <a:r>
              <a:rPr lang="zh-CN" altLang="en-US" sz="1400" b="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点</a:t>
            </a:r>
            <a:endParaRPr lang="zh-CN" altLang="en-US" sz="1400" b="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688330" y="4947920"/>
            <a:ext cx="487616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l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单击此处输入你的正文，文字是您思想的提炼，为了最终演示发布的良好效果，请尽量言简意赅的阐述观；</a:t>
            </a:r>
            <a:r>
              <a:rPr lang="zh-CN" altLang="en-US" sz="1400" b="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点</a:t>
            </a:r>
            <a:endParaRPr lang="zh-CN" altLang="en-US" sz="1400" b="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5688330" y="3448050"/>
            <a:ext cx="5309870" cy="768985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圆角矩形 38"/>
          <p:cNvSpPr/>
          <p:nvPr/>
        </p:nvSpPr>
        <p:spPr>
          <a:xfrm>
            <a:off x="5332095" y="4824095"/>
            <a:ext cx="5309870" cy="768985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菱形 39"/>
          <p:cNvSpPr/>
          <p:nvPr/>
        </p:nvSpPr>
        <p:spPr>
          <a:xfrm>
            <a:off x="5432425" y="3564890"/>
            <a:ext cx="523240" cy="534670"/>
          </a:xfrm>
          <a:prstGeom prst="diamond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latin typeface="MiSans Normal" panose="00000500000000000000" charset="-122"/>
                <a:ea typeface="MiSans Normal" panose="00000500000000000000" charset="-122"/>
              </a:rPr>
              <a:t>2</a:t>
            </a:r>
            <a:endParaRPr lang="en-US" altLang="zh-CN" sz="160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1" name="菱形 40"/>
          <p:cNvSpPr/>
          <p:nvPr/>
        </p:nvSpPr>
        <p:spPr>
          <a:xfrm>
            <a:off x="5080635" y="4946650"/>
            <a:ext cx="523240" cy="534670"/>
          </a:xfrm>
          <a:prstGeom prst="diamond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latin typeface="MiSans Normal" panose="00000500000000000000" charset="-122"/>
                <a:ea typeface="MiSans Normal" panose="00000500000000000000" charset="-122"/>
              </a:rPr>
              <a:t>3</a:t>
            </a:r>
            <a:endParaRPr lang="en-US" altLang="zh-CN" sz="160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2" name="菱形 41"/>
          <p:cNvSpPr/>
          <p:nvPr/>
        </p:nvSpPr>
        <p:spPr>
          <a:xfrm>
            <a:off x="5080635" y="2183765"/>
            <a:ext cx="523240" cy="534670"/>
          </a:xfrm>
          <a:prstGeom prst="diamond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latin typeface="MiSans Normal" panose="00000500000000000000" charset="-122"/>
                <a:ea typeface="MiSans Normal" panose="00000500000000000000" charset="-122"/>
              </a:rPr>
              <a:t>1</a:t>
            </a:r>
            <a:endParaRPr lang="en-US" altLang="zh-CN" sz="160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直角三角形 12"/>
          <p:cNvSpPr/>
          <p:nvPr/>
        </p:nvSpPr>
        <p:spPr>
          <a:xfrm rot="5400000">
            <a:off x="635" y="-63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/>
        </p:nvSpPr>
        <p:spPr>
          <a:xfrm>
            <a:off x="1270" y="427291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直角三角形 14"/>
          <p:cNvSpPr/>
          <p:nvPr/>
        </p:nvSpPr>
        <p:spPr>
          <a:xfrm rot="10800000">
            <a:off x="9608185" y="-127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/>
        </p:nvSpPr>
        <p:spPr>
          <a:xfrm rot="16200000">
            <a:off x="9607550" y="427355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45745" y="222885"/>
            <a:ext cx="11700510" cy="64122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737995" y="2728595"/>
            <a:ext cx="87166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54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时间进度安排</a:t>
            </a:r>
            <a:endParaRPr lang="zh-CN" sz="5400" b="1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23" name="流程图: 终止 22"/>
          <p:cNvSpPr/>
          <p:nvPr/>
        </p:nvSpPr>
        <p:spPr>
          <a:xfrm>
            <a:off x="5116830" y="5075555"/>
            <a:ext cx="1959610" cy="501015"/>
          </a:xfrm>
          <a:prstGeom prst="flowChartTerminator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MiSans Normal" panose="00000500000000000000" charset="-122"/>
                <a:ea typeface="MiSans Normal" panose="00000500000000000000" charset="-122"/>
              </a:rPr>
              <a:t>P A R T . 0 4</a:t>
            </a:r>
            <a:endParaRPr lang="en-US" altLang="zh-CN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720850" y="3915410"/>
            <a:ext cx="8750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i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Time schedule</a:t>
            </a:r>
            <a:endParaRPr lang="zh-CN" altLang="en-US" i="1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99660" y="1356995"/>
            <a:ext cx="239395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600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04</a:t>
            </a:r>
            <a:endParaRPr lang="en-US" altLang="zh-CN" sz="6600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直角三角形 13"/>
          <p:cNvSpPr/>
          <p:nvPr/>
        </p:nvSpPr>
        <p:spPr>
          <a:xfrm>
            <a:off x="1270" y="427291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直角三角形 12"/>
          <p:cNvSpPr/>
          <p:nvPr/>
        </p:nvSpPr>
        <p:spPr>
          <a:xfrm rot="5400000">
            <a:off x="635" y="-63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直角三角形 14"/>
          <p:cNvSpPr/>
          <p:nvPr/>
        </p:nvSpPr>
        <p:spPr>
          <a:xfrm rot="10800000">
            <a:off x="9608185" y="-127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/>
        </p:nvSpPr>
        <p:spPr>
          <a:xfrm rot="16200000">
            <a:off x="9607550" y="427355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245745" y="222885"/>
            <a:ext cx="11700510" cy="64122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327910" y="588645"/>
            <a:ext cx="75355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04.</a:t>
            </a:r>
            <a:r>
              <a:rPr lang="zh-CN" sz="28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  <a:sym typeface="+mn-ea"/>
              </a:rPr>
              <a:t>时间进度安排</a:t>
            </a:r>
            <a:endParaRPr lang="en-US" altLang="zh-CN" sz="2800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H="1">
            <a:off x="4708525" y="1708150"/>
            <a:ext cx="11430" cy="4347210"/>
          </a:xfrm>
          <a:prstGeom prst="line">
            <a:avLst/>
          </a:prstGeom>
          <a:ln w="31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/>
          <p:cNvSpPr/>
          <p:nvPr/>
        </p:nvSpPr>
        <p:spPr>
          <a:xfrm>
            <a:off x="4602480" y="5328920"/>
            <a:ext cx="222885" cy="23368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4603115" y="4286250"/>
            <a:ext cx="222885" cy="23368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4603115" y="2200910"/>
            <a:ext cx="222885" cy="23368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4603115" y="3243580"/>
            <a:ext cx="222885" cy="23368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1"/>
          <a:srcRect l="28425" t="12014" r="9687"/>
          <a:stretch>
            <a:fillRect/>
          </a:stretch>
        </p:blipFill>
        <p:spPr>
          <a:xfrm>
            <a:off x="1406525" y="2614930"/>
            <a:ext cx="2527300" cy="251587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980" h="3962">
                <a:moveTo>
                  <a:pt x="1990" y="0"/>
                </a:moveTo>
                <a:cubicBezTo>
                  <a:pt x="3089" y="0"/>
                  <a:pt x="3980" y="887"/>
                  <a:pt x="3980" y="1981"/>
                </a:cubicBezTo>
                <a:cubicBezTo>
                  <a:pt x="3980" y="3075"/>
                  <a:pt x="3089" y="3962"/>
                  <a:pt x="1990" y="3962"/>
                </a:cubicBezTo>
                <a:cubicBezTo>
                  <a:pt x="891" y="3962"/>
                  <a:pt x="0" y="3075"/>
                  <a:pt x="0" y="1981"/>
                </a:cubicBezTo>
                <a:cubicBezTo>
                  <a:pt x="0" y="887"/>
                  <a:pt x="891" y="0"/>
                  <a:pt x="1990" y="0"/>
                </a:cubicBezTo>
                <a:close/>
              </a:path>
            </a:pathLst>
          </a:custGeom>
          <a:noFill/>
          <a:ln w="9525">
            <a:solidFill>
              <a:schemeClr val="tx2">
                <a:lumMod val="75000"/>
                <a:lumOff val="25000"/>
              </a:schemeClr>
            </a:solidFill>
          </a:ln>
        </p:spPr>
      </p:pic>
      <p:sp>
        <p:nvSpPr>
          <p:cNvPr id="19" name="文本框 18"/>
          <p:cNvSpPr txBox="1"/>
          <p:nvPr/>
        </p:nvSpPr>
        <p:spPr>
          <a:xfrm>
            <a:off x="4826000" y="1974215"/>
            <a:ext cx="1814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25365" y="2442210"/>
            <a:ext cx="633476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单击此处输入你的正文，文字是您思想的提炼，为了最终演示发布的良好效果，请尽量言简意赅的阐述观；</a:t>
            </a:r>
            <a:r>
              <a:rPr lang="zh-CN" altLang="en-US" sz="1400" b="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点</a:t>
            </a:r>
            <a:endParaRPr lang="zh-CN" altLang="en-US" sz="1400" b="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826000" y="3016885"/>
            <a:ext cx="1814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826000" y="4059555"/>
            <a:ext cx="1814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826000" y="5102225"/>
            <a:ext cx="1814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825365" y="3475990"/>
            <a:ext cx="633476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单击此处输入你的正文，文字是您思想的提炼，为了最终演示发布的良好效果，请尽量言简意赅的阐述观；</a:t>
            </a:r>
            <a:r>
              <a:rPr lang="zh-CN" altLang="en-US" sz="1400" b="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点</a:t>
            </a:r>
            <a:endParaRPr lang="zh-CN" altLang="en-US" sz="1400" b="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826000" y="4509770"/>
            <a:ext cx="633476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单击此处输入你的正文，文字是您思想的提炼，为了最终演示发布的良好效果，请尽量言简意赅的阐述观；</a:t>
            </a:r>
            <a:r>
              <a:rPr lang="zh-CN" altLang="en-US" sz="1400" b="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点</a:t>
            </a:r>
            <a:endParaRPr lang="zh-CN" altLang="en-US" sz="1400" b="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826000" y="5561330"/>
            <a:ext cx="633476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单击此处输入你的正文，文字是您思想的提炼，为了最终演示发布的良好效果，请尽量言简意赅的阐述观；</a:t>
            </a:r>
            <a:r>
              <a:rPr lang="zh-CN" altLang="en-US" sz="1400" b="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点</a:t>
            </a:r>
            <a:endParaRPr lang="zh-CN" altLang="en-US" sz="1400" b="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直角三角形 12"/>
          <p:cNvSpPr/>
          <p:nvPr/>
        </p:nvSpPr>
        <p:spPr>
          <a:xfrm rot="5400000">
            <a:off x="635" y="-63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/>
        </p:nvSpPr>
        <p:spPr>
          <a:xfrm>
            <a:off x="1270" y="427291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直角三角形 14"/>
          <p:cNvSpPr/>
          <p:nvPr/>
        </p:nvSpPr>
        <p:spPr>
          <a:xfrm rot="10800000">
            <a:off x="9608185" y="-127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/>
        </p:nvSpPr>
        <p:spPr>
          <a:xfrm rot="16200000">
            <a:off x="9607550" y="427355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45745" y="222885"/>
            <a:ext cx="11700510" cy="64122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327910" y="588645"/>
            <a:ext cx="75355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04.</a:t>
            </a:r>
            <a:r>
              <a:rPr lang="zh-CN" sz="28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  <a:sym typeface="+mn-ea"/>
              </a:rPr>
              <a:t>时间进度安排</a:t>
            </a:r>
            <a:endParaRPr lang="en-US" altLang="zh-CN" sz="2800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403350" y="1612265"/>
            <a:ext cx="9385935" cy="4497705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1056640" y="2651125"/>
            <a:ext cx="700405" cy="71247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MiSans Normal" panose="00000500000000000000" charset="-122"/>
                <a:ea typeface="MiSans Normal" panose="00000500000000000000" charset="-122"/>
              </a:rPr>
              <a:t>01</a:t>
            </a:r>
            <a:endParaRPr lang="en-US" altLang="zh-CN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56640" y="4359275"/>
            <a:ext cx="700405" cy="71247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MiSans Normal" panose="00000500000000000000" charset="-122"/>
                <a:ea typeface="MiSans Normal" panose="00000500000000000000" charset="-122"/>
              </a:rPr>
              <a:t>03</a:t>
            </a:r>
            <a:endParaRPr lang="en-US" altLang="zh-CN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0434955" y="2651125"/>
            <a:ext cx="700405" cy="71247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MiSans Normal" panose="00000500000000000000" charset="-122"/>
                <a:ea typeface="MiSans Normal" panose="00000500000000000000" charset="-122"/>
              </a:rPr>
              <a:t>02</a:t>
            </a:r>
            <a:endParaRPr lang="en-US" altLang="zh-CN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0434955" y="4359275"/>
            <a:ext cx="700405" cy="71247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MiSans Normal" panose="00000500000000000000" charset="-122"/>
                <a:ea typeface="MiSans Normal" panose="00000500000000000000" charset="-122"/>
              </a:rPr>
              <a:t>04</a:t>
            </a:r>
            <a:endParaRPr lang="en-US" altLang="zh-CN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757045" y="2461895"/>
            <a:ext cx="1814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620760" y="2462530"/>
            <a:ext cx="1814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57045" y="4150995"/>
            <a:ext cx="1814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620760" y="4150995"/>
            <a:ext cx="1814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757045" y="2922905"/>
            <a:ext cx="3296920" cy="737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单击此处输入你的正文，文字是您思想的提炼，为了最终演示发布的良好效果，请尽量言简意赅的阐述观；</a:t>
            </a:r>
            <a:r>
              <a:rPr lang="zh-CN" altLang="en-US" sz="1400" b="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点</a:t>
            </a:r>
            <a:endParaRPr lang="zh-CN" altLang="en-US" sz="1400" b="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1"/>
          <a:srcRect l="19569" r="15471" b="2529"/>
          <a:stretch>
            <a:fillRect/>
          </a:stretch>
        </p:blipFill>
        <p:spPr>
          <a:xfrm>
            <a:off x="5053965" y="2809240"/>
            <a:ext cx="2103755" cy="210439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313" h="3314">
                <a:moveTo>
                  <a:pt x="1657" y="0"/>
                </a:moveTo>
                <a:lnTo>
                  <a:pt x="3313" y="1657"/>
                </a:lnTo>
                <a:lnTo>
                  <a:pt x="1657" y="3314"/>
                </a:lnTo>
                <a:lnTo>
                  <a:pt x="0" y="1657"/>
                </a:lnTo>
                <a:lnTo>
                  <a:pt x="1657" y="0"/>
                </a:lnTo>
                <a:close/>
              </a:path>
            </a:pathLst>
          </a:custGeom>
          <a:noFill/>
          <a:ln w="9525">
            <a:solidFill>
              <a:schemeClr val="tx2">
                <a:lumMod val="75000"/>
                <a:lumOff val="25000"/>
              </a:schemeClr>
            </a:solidFill>
          </a:ln>
        </p:spPr>
      </p:pic>
      <p:sp>
        <p:nvSpPr>
          <p:cNvPr id="22" name="文本框 21"/>
          <p:cNvSpPr txBox="1"/>
          <p:nvPr/>
        </p:nvSpPr>
        <p:spPr>
          <a:xfrm>
            <a:off x="1757045" y="4611370"/>
            <a:ext cx="3296920" cy="737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单击此处输入你的正文，文字是您思想的提炼，为了最终演示发布的良好效果，请尽量言简意赅的阐述观；</a:t>
            </a:r>
            <a:r>
              <a:rPr lang="zh-CN" altLang="en-US" sz="1400" b="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点</a:t>
            </a:r>
            <a:endParaRPr lang="zh-CN" altLang="en-US" sz="1400" b="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138035" y="2922905"/>
            <a:ext cx="3296920" cy="737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r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单击此处输入你的正文，文字是您思想的提炼，为了最终演示发布的良好效果，请尽量言简意赅的阐述观；</a:t>
            </a:r>
            <a:r>
              <a:rPr lang="zh-CN" altLang="en-US" sz="1400" b="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点</a:t>
            </a:r>
            <a:endParaRPr lang="zh-CN" altLang="en-US" sz="1400" b="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138035" y="4611370"/>
            <a:ext cx="3296920" cy="737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r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单击此处输入你的正文，文字是您思想的提炼，为了最终演示发布的良好效果，请尽量言简意赅的阐述观；</a:t>
            </a:r>
            <a:r>
              <a:rPr lang="zh-CN" altLang="en-US" sz="1400" b="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点</a:t>
            </a:r>
            <a:endParaRPr lang="zh-CN" altLang="en-US" sz="1400" b="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直角三角形 12"/>
          <p:cNvSpPr/>
          <p:nvPr/>
        </p:nvSpPr>
        <p:spPr>
          <a:xfrm rot="5400000">
            <a:off x="635" y="-63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/>
        </p:nvSpPr>
        <p:spPr>
          <a:xfrm>
            <a:off x="1270" y="427291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直角三角形 14"/>
          <p:cNvSpPr/>
          <p:nvPr/>
        </p:nvSpPr>
        <p:spPr>
          <a:xfrm rot="10800000">
            <a:off x="9608185" y="-127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/>
        </p:nvSpPr>
        <p:spPr>
          <a:xfrm rot="16200000">
            <a:off x="9607550" y="427355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45745" y="222885"/>
            <a:ext cx="11700510" cy="64122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327910" y="588645"/>
            <a:ext cx="75355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04.</a:t>
            </a:r>
            <a:r>
              <a:rPr lang="zh-CN" sz="28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  <a:sym typeface="+mn-ea"/>
              </a:rPr>
              <a:t>时间进度安排</a:t>
            </a:r>
            <a:endParaRPr lang="en-US" altLang="zh-CN" sz="2800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485900" y="2408555"/>
            <a:ext cx="2716530" cy="2884805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937385" y="2806065"/>
            <a:ext cx="1814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添加标题</a:t>
            </a:r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2621915" y="3489325"/>
            <a:ext cx="445135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736725" y="3712210"/>
            <a:ext cx="2215515" cy="11684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</a:t>
            </a:r>
            <a:endParaRPr lang="zh-CN" altLang="en-US" sz="1400" b="0">
              <a:solidFill>
                <a:schemeClr val="tx1">
                  <a:lumMod val="95000"/>
                  <a:lumOff val="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  <a:p>
            <a:pPr indent="0" algn="ctr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文字是您思想的提炼，为了最终演示发布的良好效果，请尽量言简意赅的阐述观</a:t>
            </a:r>
            <a:endParaRPr lang="zh-CN" altLang="en-US" sz="1400" b="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875530" y="1859915"/>
            <a:ext cx="713105" cy="72390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4875530" y="2988310"/>
            <a:ext cx="713105" cy="72390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5588635" y="1960880"/>
            <a:ext cx="54673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l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单击此处输入你的正文，文字是您思想的提炼，为了最终演示发布的良好效果，请尽量言简意赅的阐述观；</a:t>
            </a:r>
            <a:r>
              <a:rPr lang="zh-CN" altLang="en-US" sz="1400" b="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点</a:t>
            </a:r>
            <a:endParaRPr lang="zh-CN" altLang="en-US" sz="1400" b="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88635" y="3089910"/>
            <a:ext cx="54673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l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单击此处输入你的正文，文字是您思想的提炼，为了最终演示发布的良好效果，请尽量言简意赅的阐述观；</a:t>
            </a:r>
            <a:r>
              <a:rPr lang="zh-CN" altLang="en-US" sz="1400" b="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点</a:t>
            </a:r>
            <a:endParaRPr lang="zh-CN" altLang="en-US" sz="1400" b="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pic>
        <p:nvPicPr>
          <p:cNvPr id="9" name="图片 8" descr="32313538343134373b32313538343132383bc4abcba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1265" y="2031365"/>
            <a:ext cx="381000" cy="381000"/>
          </a:xfrm>
          <a:prstGeom prst="rect">
            <a:avLst/>
          </a:prstGeom>
        </p:spPr>
      </p:pic>
      <p:pic>
        <p:nvPicPr>
          <p:cNvPr id="10" name="图片 9" descr="32313538343134373b32313538343133333bb0ecb9abd7c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1900" y="3159760"/>
            <a:ext cx="380365" cy="380365"/>
          </a:xfrm>
          <a:prstGeom prst="rect">
            <a:avLst/>
          </a:prstGeom>
        </p:spPr>
      </p:pic>
      <p:sp>
        <p:nvSpPr>
          <p:cNvPr id="11" name="圆角矩形 10"/>
          <p:cNvSpPr/>
          <p:nvPr/>
        </p:nvSpPr>
        <p:spPr>
          <a:xfrm>
            <a:off x="4875530" y="4116070"/>
            <a:ext cx="6180455" cy="1770380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041900" y="4880610"/>
            <a:ext cx="2817495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</a:t>
            </a:r>
            <a:r>
              <a:rPr lang="zh-CN" altLang="en-US" sz="1400" b="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点</a:t>
            </a:r>
            <a:endParaRPr lang="zh-CN" altLang="en-US" sz="1400" b="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072755" y="4880610"/>
            <a:ext cx="2817495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单击此处输入你的正文，文字是您思想的提炼，为了最终演示发布的良好效果，请尽量言简意赅的阐述观</a:t>
            </a:r>
            <a:r>
              <a:rPr lang="zh-CN" altLang="en-US" sz="1400" b="0">
                <a:solidFill>
                  <a:schemeClr val="bg1"/>
                </a:solidFill>
                <a:latin typeface="MiSans Normal" panose="00000500000000000000" charset="-122"/>
                <a:ea typeface="MiSans Normal" panose="00000500000000000000" charset="-122"/>
              </a:rPr>
              <a:t>点</a:t>
            </a:r>
            <a:endParaRPr lang="zh-CN" altLang="en-US" sz="1400" b="0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pic>
        <p:nvPicPr>
          <p:cNvPr id="22" name="图片 21" descr="32313534313537333b32313534313535333bb5c6c5dd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3790" y="4274820"/>
            <a:ext cx="513715" cy="513715"/>
          </a:xfrm>
          <a:prstGeom prst="rect">
            <a:avLst/>
          </a:prstGeom>
        </p:spPr>
      </p:pic>
      <p:pic>
        <p:nvPicPr>
          <p:cNvPr id="24" name="图片 23" descr="32313534313537333b32313534313534383bcab1bce4c9b3c2a9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24645" y="4274820"/>
            <a:ext cx="503555" cy="50355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直角三角形 12"/>
          <p:cNvSpPr/>
          <p:nvPr/>
        </p:nvSpPr>
        <p:spPr>
          <a:xfrm rot="5400000">
            <a:off x="635" y="-63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/>
        </p:nvSpPr>
        <p:spPr>
          <a:xfrm>
            <a:off x="1270" y="4272915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直角三角形 14"/>
          <p:cNvSpPr/>
          <p:nvPr/>
        </p:nvSpPr>
        <p:spPr>
          <a:xfrm rot="10800000">
            <a:off x="9608185" y="-127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/>
        </p:nvSpPr>
        <p:spPr>
          <a:xfrm rot="16200000">
            <a:off x="9607550" y="4273550"/>
            <a:ext cx="2583815" cy="2585085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45745" y="222885"/>
            <a:ext cx="11700510" cy="64122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737360" y="2769235"/>
            <a:ext cx="87166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60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感</a:t>
            </a:r>
            <a:r>
              <a:rPr lang="en-US" altLang="zh-CN" sz="60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 </a:t>
            </a:r>
            <a:r>
              <a:rPr lang="zh-CN" sz="60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谢</a:t>
            </a:r>
            <a:r>
              <a:rPr lang="en-US" altLang="zh-CN" sz="60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 </a:t>
            </a:r>
            <a:r>
              <a:rPr lang="zh-CN" sz="60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观</a:t>
            </a:r>
            <a:r>
              <a:rPr lang="en-US" altLang="zh-CN" sz="60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 </a:t>
            </a:r>
            <a:r>
              <a:rPr lang="zh-CN" sz="60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看</a:t>
            </a:r>
            <a:endParaRPr lang="zh-CN" sz="6000" b="1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pic>
        <p:nvPicPr>
          <p:cNvPr id="19" name="图片 18" descr="343435333238383b333637393534383bb2a9cabfc3b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7020" y="1125220"/>
            <a:ext cx="1458595" cy="1458595"/>
          </a:xfrm>
          <a:prstGeom prst="rect">
            <a:avLst/>
          </a:prstGeom>
        </p:spPr>
      </p:pic>
      <p:sp>
        <p:nvSpPr>
          <p:cNvPr id="23" name="流程图: 终止 22"/>
          <p:cNvSpPr/>
          <p:nvPr/>
        </p:nvSpPr>
        <p:spPr>
          <a:xfrm>
            <a:off x="3306445" y="4885690"/>
            <a:ext cx="2059940" cy="501015"/>
          </a:xfrm>
          <a:prstGeom prst="flowChartTerminator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答辩人：稻小壳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5" name="流程图: 终止 24"/>
          <p:cNvSpPr/>
          <p:nvPr/>
        </p:nvSpPr>
        <p:spPr>
          <a:xfrm>
            <a:off x="6824980" y="4885690"/>
            <a:ext cx="1938020" cy="501015"/>
          </a:xfrm>
          <a:prstGeom prst="flowChartTerminator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导师：</a:t>
            </a:r>
            <a:r>
              <a:rPr lang="en-US" altLang="zh-CN">
                <a:latin typeface="MiSans Normal" panose="00000500000000000000" charset="-122"/>
                <a:ea typeface="MiSans Normal" panose="00000500000000000000" charset="-122"/>
              </a:rPr>
              <a:t>Docer</a:t>
            </a:r>
            <a:endParaRPr lang="en-US" altLang="zh-CN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720850" y="3844925"/>
            <a:ext cx="8750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i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T</a:t>
            </a:r>
            <a:r>
              <a:rPr lang="en-US" altLang="zh-CN" i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  </a:t>
            </a:r>
            <a:r>
              <a:rPr lang="zh-CN" altLang="en-US" i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H</a:t>
            </a:r>
            <a:r>
              <a:rPr lang="en-US" altLang="zh-CN" i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  </a:t>
            </a:r>
            <a:r>
              <a:rPr lang="zh-CN" altLang="en-US" i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A</a:t>
            </a:r>
            <a:r>
              <a:rPr lang="en-US" altLang="zh-CN" i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  </a:t>
            </a:r>
            <a:r>
              <a:rPr lang="zh-CN" altLang="en-US" i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N</a:t>
            </a:r>
            <a:r>
              <a:rPr lang="en-US" altLang="zh-CN" i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  </a:t>
            </a:r>
            <a:r>
              <a:rPr lang="zh-CN" altLang="en-US" i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K</a:t>
            </a:r>
            <a:r>
              <a:rPr lang="en-US" altLang="zh-CN" i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  </a:t>
            </a:r>
            <a:r>
              <a:rPr lang="zh-CN" altLang="en-US" i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S</a:t>
            </a:r>
            <a:endParaRPr lang="zh-CN" altLang="en-US" i="1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2.xml><?xml version="1.0" encoding="utf-8"?>
<p:tagLst xmlns:p="http://schemas.openxmlformats.org/presentationml/2006/main">
  <p:tag name="COMMONDATA" val="eyJoZGlkIjoiYzZkNzQ4ZWFiZmQ4NTRhOWRkZTk3YTMwMjlmMmZhYmUifQ=="/>
  <p:tag name="KSO_WPP_MARK_KEY" val="121e5c38-2e9d-4d9b-a7c4-bfd945166cc5"/>
  <p:tag name="commondata" val="eyJoZGlkIjoiODViY2JkMjU3NGYzZTEwMzZmMGFkZWViYmNkYWU3NDI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2899</Words>
  <Application>WPS 演示</Application>
  <PresentationFormat>宽屏</PresentationFormat>
  <Paragraphs>285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Arial</vt:lpstr>
      <vt:lpstr>宋体</vt:lpstr>
      <vt:lpstr>Wingdings</vt:lpstr>
      <vt:lpstr>Wingdings</vt:lpstr>
      <vt:lpstr>MiSans Normal</vt:lpstr>
      <vt:lpstr>微软雅黑</vt:lpstr>
      <vt:lpstr>Arial Unicode MS</vt:lpstr>
      <vt:lpstr>Calibri</vt:lpstr>
      <vt:lpstr>Microsoft YaHei Bold</vt:lpstr>
      <vt:lpstr>思源黑体 CN 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罗志铭</cp:lastModifiedBy>
  <cp:revision>195</cp:revision>
  <dcterms:created xsi:type="dcterms:W3CDTF">2019-06-19T02:08:00Z</dcterms:created>
  <dcterms:modified xsi:type="dcterms:W3CDTF">2026-05-10T09:37:04Z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ICV">
    <vt:lpwstr>A0D4D7B7C40A4B02B6EF09628A1441F6_13</vt:lpwstr>
  </property>
</Properties>
</file>